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4" dt="2026-09-15T22:30:19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EF4E0-F9AE-4EC0-81DA-8E119BC668BC}" type="datetimeFigureOut"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A06B0-FA80-4BAA-A62E-3C6B867116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2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SECUREPR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Pull Request Security Harness and Security Gate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12700">
            <a:solidFill>
              <a:srgbClr val="3C4C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840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Ponce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Seton Hall University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Cybersecurity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ISCI 6201: Secure Software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motivation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Pull-request security checks are often spread across multiple disconnected tools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Developers need one consistent security gate applied to every PR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 err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SecurePR</a:t>
            </a: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combines several automated security controls into a reusable GitHub Actions workflow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The system produces evidence and a final PASS / BLOCK decision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CF1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892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A5A0A"/>
                </a:solidFill>
                <a:latin typeface="Calibri"/>
                <a:ea typeface="Calibri"/>
                <a:cs typeface="Calibri"/>
              </a:rPr>
              <a:t>PASS does not mean the repository is completely secure. Human review is still required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SecurePR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opens PR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48" y="2002536"/>
            <a:ext cx="146304" cy="164592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85416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8541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13048" y="2770632"/>
            <a:ext cx="146304" cy="164592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953512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95351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13048" y="3538728"/>
            <a:ext cx="146304" cy="164592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721608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216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13048" y="4306824"/>
            <a:ext cx="146304" cy="164592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489704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48970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SARIF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13048" y="5074920"/>
            <a:ext cx="146304" cy="164592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5257800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2578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13048" y="5843016"/>
            <a:ext cx="146304" cy="164592"/>
          </a:xfrm>
          <a:prstGeom prst="downArrow">
            <a:avLst/>
          </a:prstGeom>
          <a:solidFill>
            <a:srgbClr val="B4B2A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6025896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E6F1F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602589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BLOCK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18745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The workflow is reusable across repositories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Security-sensitive workflow reuse can be pinned to a reviewed commit SHA, rather than a mutable tag or branch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profiling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auditing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15968" y="150876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8600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custom rules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29016" y="150876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7616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Policy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228600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aggregation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mapping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BLOCK decision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LOGIC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Semgrep rules and OWASP mapping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passwords / credentials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hardcoded credential assignments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usernames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eval() / exec()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TLS verification in Python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mappings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384048"/>
          </a:xfrm>
          <a:prstGeom prst="rect">
            <a:avLst/>
          </a:prstGeom>
          <a:solidFill>
            <a:srgbClr val="F7F7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password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783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A04, A07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67128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167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hardcoded credential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167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A04, A07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551176"/>
            <a:ext cx="5394960" cy="384048"/>
          </a:xfrm>
          <a:prstGeom prst="rect">
            <a:avLst/>
          </a:prstGeom>
          <a:solidFill>
            <a:srgbClr val="F7F7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2551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username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25511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A01, A07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935224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935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eval / exec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9352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319272"/>
            <a:ext cx="5394960" cy="384048"/>
          </a:xfrm>
          <a:prstGeom prst="rect">
            <a:avLst/>
          </a:prstGeom>
          <a:solidFill>
            <a:srgbClr val="F7F7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3319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TLS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3192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A02, A04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1F5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6E56"/>
                </a:solidFill>
                <a:latin typeface="Calibri"/>
                <a:ea typeface="Calibri"/>
                <a:cs typeface="Calibri"/>
              </a:rPr>
              <a:t>A Python AST-based rule was added after a benchmark case was not reliably caught by the original generic rule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 EXPERIMENTS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/ BLOCK 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required automated finding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480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24528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3128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hardcoded credential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3063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detected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3128" y="4480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AE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53128" y="4480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46136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7F7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74736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Remediated PR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74736" y="3063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removed, workflow reruns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4736" y="44805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74736" y="4480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reviewed cases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737360" cy="502920"/>
          </a:xfrm>
          <a:prstGeom prst="rect">
            <a:avLst/>
          </a:prstGeom>
          <a:solidFill>
            <a:srgbClr val="12233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874520"/>
            <a:ext cx="1828800" cy="502920"/>
          </a:xfrm>
          <a:prstGeom prst="rect">
            <a:avLst/>
          </a:prstGeom>
          <a:solidFill>
            <a:srgbClr val="12233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874520"/>
            <a:ext cx="1828800" cy="502920"/>
          </a:xfrm>
          <a:prstGeom prst="rect">
            <a:avLst/>
          </a:prstGeom>
          <a:solidFill>
            <a:srgbClr val="12233B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0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73736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23774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02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23774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173736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clean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28803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28803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6908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16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14173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E6F1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83.78%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63840" y="14173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E6F1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0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35440" y="14173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E6F1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35440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71.43%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607040" y="14173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E6F1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607040" y="1508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83.33%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60704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7091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CF1D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" y="47091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8A5A0A"/>
                </a:solidFill>
                <a:latin typeface="Calibri"/>
                <a:ea typeface="Calibri"/>
                <a:cs typeface="Calibri"/>
              </a:rPr>
              <a:t>These results are only from the reviewed 37-case benchmark. They should not be generalized to all repositories or all possible vulnerabilities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future work, and takeaway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Benchmark coverage is limited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False negatives remain</a:t>
            </a:r>
            <a:endParaRPr lang="en-US" sz="1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6B7A"/>
                </a:solidFill>
                <a:latin typeface="Calibri"/>
                <a:ea typeface="Calibri"/>
                <a:cs typeface="Calibri"/>
              </a:rPr>
              <a:t>PASS only means configured automated controls found no condition requiring a block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17220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8288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benchmarks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security rules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security controls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709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4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SecurePR turns multiple pull-request security checks into one reusable, policy-driven security gate</a:t>
            </a:r>
            <a:endParaRPr lang="en-US" sz="1600" dirty="0">
              <a:latin typeface="Georgia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SecurePR</dc:title>
  <dc:subject>PptxGenJS Presentation</dc:subject>
  <dc:creator>Marco Ponce</dc:creator>
  <cp:lastModifiedBy>Marco Ponce</cp:lastModifiedBy>
  <cp:revision>13</cp:revision>
  <dcterms:created xsi:type="dcterms:W3CDTF">2026-09-15T22:06:27Z</dcterms:created>
  <dcterms:modified xsi:type="dcterms:W3CDTF">2026-09-15T22:30:42Z</dcterms:modified>
</cp:coreProperties>
</file>